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8288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5F5F5"/>
                </a:solidFill>
                <a:latin typeface="Microsoft YaHei"/>
              </a:defRPr>
            </a:pPr>
            <a:r>
              <a:t>🔥 公共关系实务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2A7F"/>
                </a:solidFill>
                <a:latin typeface="Microsoft YaHei"/>
              </a:defRPr>
            </a:pPr>
            <a:r>
              <a:t>不仅教你怎么说话，更教你怎么“搞事情”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696A0"/>
                </a:solidFill>
                <a:latin typeface="Microsoft YaHei"/>
              </a:defRPr>
            </a:pPr>
            <a:r>
              <a:t>教材：霍瑞红 (第四版)   |   核心 17 课时高能导学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0F3FF"/>
                </a:solidFill>
                <a:latin typeface="Microsoft YaHei"/>
              </a:defRPr>
            </a:pPr>
            <a:r>
              <a:t>🗺️ 这学期，我们怎么“打怪升级”？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9FF14"/>
                </a:solidFill>
                <a:latin typeface="Microsoft YaHei"/>
              </a:defRPr>
            </a:pPr>
            <a:r>
              <a:t>🟢 第一阶段：看透套路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5F5F5"/>
                </a:solidFill>
                <a:latin typeface="Microsoft YaHei"/>
              </a:defRPr>
            </a:pPr>
            <a:r>
              <a:t>课时 1: 公关是玄学还是科学？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5F5F5"/>
                </a:solidFill>
                <a:latin typeface="Microsoft YaHei"/>
              </a:defRPr>
            </a:pPr>
            <a:r>
              <a:t>课时 2: 谁在忽悠？忽悠谁？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5F5F5"/>
                </a:solidFill>
                <a:latin typeface="Microsoft YaHei"/>
              </a:defRPr>
            </a:pPr>
            <a:r>
              <a:t>课时 3: 寻找你的“上帝”与黑粉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5F5F5"/>
                </a:solidFill>
                <a:latin typeface="Microsoft YaHei"/>
              </a:defRPr>
            </a:pPr>
            <a:r>
              <a:t>课时 4: 把话说到心坎里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5F5F5"/>
                </a:solidFill>
                <a:latin typeface="Microsoft YaHei"/>
              </a:defRPr>
            </a:pPr>
            <a:r>
              <a:t>课时 5: 双微一抖的新媒体战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CC00"/>
                </a:solidFill>
                <a:latin typeface="Microsoft YaHei"/>
              </a:defRPr>
            </a:pPr>
            <a:r>
              <a:t>🟡 第二阶段：动手搞事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5F5F5"/>
                </a:solidFill>
                <a:latin typeface="Microsoft YaHei"/>
              </a:defRPr>
            </a:pPr>
            <a:r>
              <a:t>课时 6: 无调查，不公关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474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5F5F5"/>
                </a:solidFill>
                <a:latin typeface="Microsoft YaHei"/>
              </a:defRPr>
            </a:pPr>
            <a:r>
              <a:t>课时 7: 写个不被毙的策划案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4206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5F5F5"/>
                </a:solidFill>
                <a:latin typeface="Microsoft YaHei"/>
              </a:defRPr>
            </a:pPr>
            <a:r>
              <a:t>课时 8: 活动落地与避坑指南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4937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5F5F5"/>
                </a:solidFill>
                <a:latin typeface="Microsoft YaHei"/>
              </a:defRPr>
            </a:pPr>
            <a:r>
              <a:t>课时 9: 老板的钱花哪了？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5669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5F5F5"/>
                </a:solidFill>
                <a:latin typeface="Microsoft YaHei"/>
              </a:defRPr>
            </a:pPr>
            <a:r>
              <a:t>课时 10: 爆款发布会是怎么炼成的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00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5F5F5"/>
                </a:solidFill>
                <a:latin typeface="Microsoft YaHei"/>
              </a:defRPr>
            </a:pPr>
            <a:r>
              <a:t>课时 11: 联名：花钱听个响？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2A7F"/>
                </a:solidFill>
                <a:latin typeface="Microsoft YaHei"/>
              </a:defRPr>
            </a:pPr>
            <a:r>
              <a:t>🔴 第三阶段：绝地求生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5F5F5"/>
                </a:solidFill>
                <a:latin typeface="Microsoft YaHei"/>
              </a:defRPr>
            </a:pPr>
            <a:r>
              <a:t>课时 12: 老板上热搜了怎么办！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3474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5F5F5"/>
                </a:solidFill>
                <a:latin typeface="Microsoft YaHei"/>
              </a:defRPr>
            </a:pPr>
            <a:r>
              <a:t>课时 13: 满分道歉信怎么写？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4206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5F5F5"/>
                </a:solidFill>
                <a:latin typeface="Microsoft YaHei"/>
              </a:defRPr>
            </a:pPr>
            <a:r>
              <a:t>课时 14: 键盘侠退散 (模拟战)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4937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5F5F5"/>
                </a:solidFill>
                <a:latin typeface="Microsoft YaHei"/>
              </a:defRPr>
            </a:pPr>
            <a:r>
              <a:t>课时 15: 公关人的神仙职场素养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5669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5F5F5"/>
                </a:solidFill>
                <a:latin typeface="Microsoft YaHei"/>
              </a:defRPr>
            </a:pPr>
            <a:r>
              <a:t>课时 16: 舌战群儒与宴请礼仪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400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5F5F5"/>
                </a:solidFill>
                <a:latin typeface="Microsoft YaHei"/>
              </a:defRPr>
            </a:pPr>
            <a:r>
              <a:t>课时 17: 期末大考：真题提案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CC00"/>
                </a:solidFill>
                <a:latin typeface="Microsoft YaHei"/>
              </a:defRPr>
            </a:pPr>
            <a:r>
              <a:t>🤔 课时 01：灵魂拷问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5F5F5"/>
                </a:solidFill>
                <a:latin typeface="Microsoft YaHei"/>
              </a:defRPr>
            </a:pPr>
            <a:r>
              <a:t>在你眼里，什么是“公关（PR）”？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696A0"/>
                </a:solidFill>
                <a:latin typeface="Microsoft YaHei"/>
              </a:defRPr>
            </a:pPr>
            <a:r>
              <a:t>❌ 刻板印象</a:t>
            </a:r>
            <a:br/>
            <a:br/>
            <a:r>
              <a:t>喝酒应酬、拉关系</a:t>
            </a:r>
            <a:br/>
            <a:r>
              <a:t>遇到丑闻发通稿</a:t>
            </a:r>
            <a:br/>
            <a:r>
              <a:t>花钱雇水军删帖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5720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9FF14"/>
                </a:solidFill>
                <a:latin typeface="Microsoft YaHei"/>
              </a:defRPr>
            </a:pPr>
            <a:r>
              <a:t>✅ 真实公关</a:t>
            </a:r>
            <a:br/>
            <a:br/>
            <a:r>
              <a:t>管理品牌认知</a:t>
            </a:r>
            <a:br/>
            <a:r>
              <a:t>建立信任关系</a:t>
            </a:r>
            <a:br/>
            <a:r>
              <a:t>转危为机的战略家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0F3FF"/>
                </a:solidFill>
                <a:latin typeface="Microsoft YaHei"/>
              </a:defRPr>
            </a:pPr>
            <a:r>
              <a:t>☕ 真实商战吃瓜：瑞幸起死回生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5F5F5"/>
                </a:solidFill>
                <a:latin typeface="Microsoft YaHei"/>
              </a:defRPr>
            </a:pPr>
            <a:r>
              <a:t>2020年，瑞幸因财务造假被美股退市，面临全网声讨，陷入绝境。它怎么活下来的？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2801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696A0"/>
                </a:solidFill>
                <a:latin typeface="Microsoft YaHei"/>
              </a:defRPr>
            </a:pPr>
            <a:r>
              <a:t>👉 认错干脆：第一时间承认，态度诚恳（危机公关 5S 原则）。</a:t>
            </a:r>
            <a:br/>
            <a:br/>
            <a:r>
              <a:t>👉 制造爆款：推出“生椰拿铁”，用硬产品转移注意力（策划与传播）。</a:t>
            </a:r>
            <a:br/>
            <a:br/>
            <a:r>
              <a:t>👉 自黑玩梗：在社交媒体上化身“打工人”，拉近与年轻人的距离（沟通与客体分析）。</a:t>
            </a:r>
            <a:br/>
            <a:br/>
            <a:r>
              <a:t>👉 跨界联名：与茅台联名“酱香拿铁”，彻底引爆全网（专题活动策划）。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2A7F"/>
                </a:solidFill>
                <a:latin typeface="Microsoft YaHei"/>
              </a:defRPr>
            </a:pPr>
            <a:r>
              <a:t>🎮 游戏规则（考核标准）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5F5F5"/>
                </a:solidFill>
                <a:latin typeface="Microsoft YaHei"/>
              </a:defRPr>
            </a:pPr>
            <a:r>
              <a:t>无聊的死记硬背？不存在的！</a:t>
            </a:r>
            <a:br/>
            <a:r>
              <a:t>这门课，我们用【实战打分】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F3FF"/>
                </a:solidFill>
                <a:latin typeface="Microsoft YaHei"/>
              </a:defRPr>
            </a:pPr>
            <a:r>
              <a:t>🗣️ 课堂发言 &amp; 提案</a:t>
            </a:r>
            <a:br/>
            <a:r>
              <a:t>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57800" y="54864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📝 分组实战项目</a:t>
            </a:r>
            <a:br/>
            <a:r>
              <a:t>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4864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9FF14"/>
                </a:solidFill>
                <a:latin typeface="Microsoft YaHei"/>
              </a:defRPr>
            </a:pPr>
            <a:r>
              <a:t>🏆 期末路演大考</a:t>
            </a:r>
            <a:br/>
            <a:r>
              <a:t>40%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CC00"/>
                </a:solidFill>
                <a:latin typeface="Microsoft YaHei"/>
              </a:defRPr>
            </a:pPr>
            <a:r>
              <a:t>🎯 随堂新手村任务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5F5F5"/>
                </a:solidFill>
                <a:latin typeface="Microsoft YaHei"/>
              </a:defRPr>
            </a:pPr>
            <a:r>
              <a:t>1. 自由组队（每组 4-5 人），选出一个公关总监 (组长)。</a:t>
            </a:r>
            <a:br/>
            <a:br/>
            <a:r>
              <a:t>2. 寻找一个最近一年内发生的热门品牌事件（翻车或爆火均可）。</a:t>
            </a:r>
            <a:br/>
            <a:br/>
            <a:r>
              <a:t>3. 下节课，派代表上台分享：事件中的“主角”是谁？“受众”是谁？他们用了什么“传播手段”？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
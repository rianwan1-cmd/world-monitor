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orgeou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71600" y="1371600"/>
            <a:ext cx="11887200" cy="5486400"/>
          </a:xfrm>
          <a:prstGeom prst="round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0" b="1">
                <a:solidFill>
                  <a:srgbClr val="FFFFFF"/>
                </a:solidFill>
                <a:latin typeface="Georgia"/>
              </a:defRPr>
            </a:pPr>
            <a:r>
              <a:t>公共关系实务</a:t>
            </a:r>
          </a:p>
          <a:p>
            <a:pPr algn="ctr">
              <a:spcBef>
                <a:spcPts val="3000"/>
              </a:spcBef>
              <a:defRPr sz="3600">
                <a:solidFill>
                  <a:srgbClr val="D4AF37"/>
                </a:solidFill>
                <a:latin typeface="Helvetica Neue"/>
              </a:defRPr>
            </a:pPr>
            <a:r>
              <a:t>建 立 信 任 的 高 级 艺 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orgeou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1371600"/>
            <a:ext cx="11887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D4AF37"/>
                </a:solidFill>
                <a:latin typeface="Georgia"/>
              </a:defRPr>
            </a:pPr>
            <a:r>
              <a:t>重塑认知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560320"/>
            <a:ext cx="2286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11887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4400">
                <a:solidFill>
                  <a:srgbClr val="FFFFFF"/>
                </a:solidFill>
                <a:latin typeface="Helvetica Neue"/>
              </a:defRPr>
            </a:pPr>
            <a:r>
              <a:t>公关不仅是危机的“灭火器”，更是品牌价值的“扩音器”。</a:t>
            </a:r>
            <a:br/>
            <a:r>
              <a:t>我们管理的不是信息，而是公众的认知。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orgeou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1371600"/>
            <a:ext cx="11887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D4AF37"/>
                </a:solidFill>
                <a:latin typeface="Georgia"/>
              </a:defRPr>
            </a:pPr>
            <a:r>
              <a:t>品牌金字塔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560320"/>
            <a:ext cx="2286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11887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4400">
                <a:solidFill>
                  <a:srgbClr val="FFFFFF"/>
                </a:solidFill>
                <a:latin typeface="Helvetica Neue"/>
              </a:defRPr>
            </a:pPr>
            <a:r>
              <a:t>从知名度、美誉度到忠诚度。</a:t>
            </a:r>
            <a:br/>
            <a:r>
              <a:t>你的品牌，就是你在别人心中的倒影。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orgeou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1371600"/>
            <a:ext cx="11887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D4AF37"/>
                </a:solidFill>
                <a:latin typeface="Georgia"/>
              </a:defRPr>
            </a:pPr>
            <a:r>
              <a:t>危机公关术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560320"/>
            <a:ext cx="2286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11887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4400">
                <a:solidFill>
                  <a:srgbClr val="FFFFFF"/>
                </a:solidFill>
                <a:latin typeface="Helvetica Neue"/>
              </a:defRPr>
            </a:pPr>
            <a:r>
              <a:t>黄金24小时已被打破，现在是“黄金1小时”。</a:t>
            </a:r>
            <a:br/>
            <a:r>
              <a:t>在风暴中心，真诚是唯一的避风港。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orgeou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1371600"/>
            <a:ext cx="11887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D4AF37"/>
                </a:solidFill>
                <a:latin typeface="Georgia"/>
              </a:defRPr>
            </a:pPr>
            <a:r>
              <a:t>媒介生态学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560320"/>
            <a:ext cx="2286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11887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4400">
                <a:solidFill>
                  <a:srgbClr val="FFFFFF"/>
                </a:solidFill>
                <a:latin typeface="Helvetica Neue"/>
              </a:defRPr>
            </a:pPr>
            <a:r>
              <a:t>传统媒体定调，社交媒体引爆。</a:t>
            </a:r>
            <a:br/>
            <a:r>
              <a:t>让真实的声音，以最优美的姿态触达受众。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orgeou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0" i="1">
                <a:solidFill>
                  <a:srgbClr val="FFFFFF"/>
                </a:solidFill>
                <a:latin typeface="Georgia"/>
              </a:defRPr>
            </a:pPr>
            <a:r>
              <a:t>"建立名誉需要20年，毁掉它只需5分钟。</a:t>
            </a:r>
            <a:br/>
            <a:r>
              <a:t>如果你明白这一点，你做事的态度就会截然不同。"</a:t>
            </a:r>
          </a:p>
          <a:p>
            <a:pPr algn="r">
              <a:spcBef>
                <a:spcPts val="4000"/>
              </a:spcBef>
              <a:defRPr sz="3200">
                <a:solidFill>
                  <a:srgbClr val="D4AF37"/>
                </a:solidFill>
                <a:latin typeface="Helvetica Neue"/>
              </a:defRPr>
            </a:pPr>
            <a:r>
              <a:t>— 沃伦·巴菲特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orgeou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71600" y="1371600"/>
            <a:ext cx="11887200" cy="5486400"/>
          </a:xfrm>
          <a:prstGeom prst="round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0" b="1">
                <a:solidFill>
                  <a:srgbClr val="FFFFFF"/>
                </a:solidFill>
                <a:latin typeface="Georgia"/>
              </a:defRPr>
            </a:pPr>
            <a:r>
              <a:t>致谢</a:t>
            </a:r>
          </a:p>
          <a:p>
            <a:pPr algn="ctr">
              <a:spcBef>
                <a:spcPts val="3000"/>
              </a:spcBef>
              <a:defRPr sz="3600">
                <a:solidFill>
                  <a:srgbClr val="D4AF37"/>
                </a:solidFill>
                <a:latin typeface="Helvetica Neue"/>
              </a:defRPr>
            </a:pPr>
            <a:r>
              <a:t>沟 通 · 信 任 · 共 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
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Helvetica Neue"/>
              </a:defRPr>
            </a:pPr>
            <a:r>
              <a:t>公共关系实务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E8E93"/>
                </a:solidFill>
                <a:latin typeface="Helvetica Neue"/>
              </a:defRPr>
            </a:pPr>
            <a:r>
              <a:t>Public Relations: The Art of 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0" b="1">
                <a:solidFill>
                  <a:srgbClr val="28282D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重塑认知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不仅是发通稿，更是管理公众认知。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0292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 b="0">
                <a:solidFill>
                  <a:srgbClr val="8E8E93"/>
                </a:solidFill>
                <a:latin typeface="Helvetica Neue"/>
              </a:defRPr>
            </a:pPr>
            <a:r>
              <a:t>公关的本质是沟通与连接。在信息爆炸的时代，</a:t>
            </a:r>
            <a:br/>
            <a:r>
              <a:t>我们不是在创造事实，而是在管理公众对事实的感知。</a:t>
            </a:r>
            <a:br/>
            <a:r>
              <a:t>这需要极度的敏锐与同理心。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0" b="1">
                <a:solidFill>
                  <a:srgbClr val="28282D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品牌共鸣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你的品牌，是你在别人心中的倒影。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0292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 b="0">
                <a:solidFill>
                  <a:srgbClr val="8E8E93"/>
                </a:solidFill>
                <a:latin typeface="Helvetica Neue"/>
              </a:defRPr>
            </a:pPr>
            <a:r>
              <a:t>从知名度、美誉度到忠诚度，这是一场漫长的攀登。</a:t>
            </a:r>
            <a:br/>
            <a:r>
              <a:t>形象塑造不仅是视觉传达，更是价值观的持续输出与验证。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0" b="1">
                <a:solidFill>
                  <a:srgbClr val="28282D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风暴之眼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危机公关：在极速崩塌中寻找生机。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0292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 b="0">
                <a:solidFill>
                  <a:srgbClr val="8E8E93"/>
                </a:solidFill>
                <a:latin typeface="Helvetica Neue"/>
              </a:defRPr>
            </a:pPr>
            <a:r>
              <a:t>黄金24小时已被打破，如今是“黄金1小时”。</a:t>
            </a:r>
            <a:br/>
            <a:r>
              <a:t>在风暴中心，唯有极度的真诚与果断的行动，</a:t>
            </a:r>
            <a:br/>
            <a:r>
              <a:t>才是度过危机的唯一避风港。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0" b="1">
                <a:solidFill>
                  <a:srgbClr val="28282D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媒介生态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Helvetica Neue"/>
              </a:defRPr>
            </a:pPr>
            <a:r>
              <a:t>让真实的声音，以最优美的姿态触达。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0292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 b="0">
                <a:solidFill>
                  <a:srgbClr val="8E8E93"/>
                </a:solidFill>
                <a:latin typeface="Helvetica Neue"/>
              </a:defRPr>
            </a:pPr>
            <a:r>
              <a:t>传统媒体定调，社交媒体引爆。</a:t>
            </a:r>
            <a:br/>
            <a:r>
              <a:t>理解媒介的底层逻辑，才能在嘈杂的互联网生态中，</a:t>
            </a:r>
            <a:br/>
            <a:r>
              <a:t>建立起属于你的信任灯塔。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743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Helvetica Neue"/>
              </a:defRPr>
            </a:pPr>
            <a:r>
              <a:t>“建立名誉需要20年，毁掉它只需5分钟。”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E8E93"/>
                </a:solidFill>
                <a:latin typeface="Helvetica Neue"/>
              </a:defRPr>
            </a:pPr>
            <a:r>
              <a:t>— 沃伦·巴菲特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
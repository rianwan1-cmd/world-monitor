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91440" cy="2743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5600">
                <a:solidFill>
                  <a:srgbClr val="FFFFFF"/>
                </a:solidFill>
                <a:latin typeface="SimHei"/>
              </a:defRPr>
            </a:pPr>
            <a:r>
              <a:t>《公共管理学实务》第四版</a:t>
            </a:r>
          </a:p>
          <a:p>
            <a:pPr algn="l">
              <a:defRPr b="1" sz="4400">
                <a:solidFill>
                  <a:srgbClr val="D4AF37"/>
                </a:solidFill>
                <a:latin typeface="SimHei"/>
              </a:defRPr>
            </a:pPr>
            <a:r>
              <a:t>17课时精讲（案例演练版）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C8C8C8"/>
                </a:solidFill>
                <a:latin typeface="KaiTi"/>
              </a:defRPr>
            </a:pPr>
            <a:r>
              <a:t>主编：霍瑞红 | 风格：学院风·活泼生动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第1课：公共管理导论与转型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从传统行政到现代公共管理，强调效率、公平与服务导向，由“划桨”转向“掌舵”。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某市“最多跑一次”改革实务：如何打通政务服务最后一公里，用数据跑路代替群众跑腿？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思考互动：改革背后的部门利益阻力主要来自哪里？怎么破局？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第2课：公共管理者的角色与技能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现代公共管理者不仅是政策执行者，更是利益协调者、创新者与危机应对者。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“接诉即办”机制下的社区干部实战：面对漏水纠纷，如何进行跨部门协调与资源调度？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情景模拟：如果你是社区书记，面对城管、住建相互推诿，你该怎么办？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第3课：公共政策的制定与执行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政策过程包含问题界定、议程设置、方案规划、合法化、执行与评估六大环节。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共享单车管理政策的演变：从最初的放任不管，到一刀切清退，再到如今的电子围栏精细化治理。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小组讨论：政策执行中为什么容易出现“一刀切”的懒政现象？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第4课：公共组织设计与变革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科层制（官僚制）的效率优势与僵化困境，扁平化、网络化、弹性化组织的兴起。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“大部制”改革的得与失：XX市市场监督管理局的整合之路，物理合并易，化学反应难。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头脑风暴：机构合并等于功能整合吗？组织文化如何融合？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第5课：公共人力资源管理实务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从传统人事管理走向现代人力资源开发，强调战略匹配、激励机制与科学绩效评估。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聘任制公务员的探索：高达百万年薪引进高层次金融、大数据专业人才，鲶鱼效应还是水土不服？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辩论赛：公共部门的“铁饭碗”思维到底该不该彻底打破？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第6课：公共财政与预算管理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公共财政的阳光化与法治化，预算是公共政策的数字化体现，反映政府的真实偏好。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参与式预算的社区实践：100万社区微更新资金，由居民投票决定是建车棚还是建花园。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现场投票：普通公众是否有能力参与复杂的政府预算编制流程？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第7课：信息资源管理与电子政务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数字化转型重塑政府业务流程，打破信息孤岛，提升政府透明度与政民互动性。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智慧城市“大脑”建设：XX市“一网通办”背后的数据共享博弈与安全防御体系构建。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热点思考：政务数据共享面临的最大安全与隐私保护挑战是什么？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第8课：公共服务提供与社会化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公共服务供给侧的多元化，引入市场机制与社会力量，政府购买服务成为常态。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养老服务的公私合作（PPP）模式：XX市社区食堂从排长队到面临生存危机的破局之路。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深度剖析：如何平衡公共服务的“公益性”与参与企业的“逐利性”？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第9课：非政府组织（NGO）与协同治理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第三部门的崛起，填补政府失灵与市场失灵的空白，形成多元共治的现代治理格局。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环保NGO在跨流域治理中的作用：民间环保组织如何通过公益诉讼推动地方政府治污。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角色扮演：NGO如何既做政府的“牛虻”监督者，又做政府的合作伙伴？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第10课：危机管理与突发事件应对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危机生命周期理论（4R模型）：缩减（Reduction）、预备（Readiness）、反应（Response）、恢复（Recovery）。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河南特大暴雨应急响应复盘反思：红色预警信息为何未能及时转化为有效的停工避险行动？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实战推演：突发事件初期的信息公开“黄金4小时”，首场发布会怎么开？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第11课：公共部门绩效评估实务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以结果和民众满意度为导向，平衡计分卡（BSC）与关键绩效指标（KPI）在公共部门的应用。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某区政府KPI考核体系的优化升级：从过去单纯“看台账、看材料”转变为“看民意、看现场”。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反思质疑：过度依赖量化考核，会不会反而导致公共服务的形式主义？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第12课：公共管理伦理与责任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公共利益至上原则，公职人员的职业道德规范，防范利益冲突与行政腐败的制度建设。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“旋转门”现象剖析：离职官员进入曾监管的利益相关企业高管层，合法合规与伦理争议的冲突。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灵魂拷问：防范腐败，严密的制度设计与内心的道德信念哪个更可靠？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第13课：城市治理与社区网格化管理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城市即网格，社区即单元。网格化管理的精细化与城市治理的温度如何平衡。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老旧小区改造中的居民自治难题：“既有住宅加装电梯”中一楼与高层住户的利益协调。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基层调研：基层网格员是打通神经末梢的“全能战士”还是被形式主义困扰的“表哥表姐”？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第14课：乡村振兴与基层公共治理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构建自治、法治、德治“三治结合”的现代乡村治理体系，实现乡村全面振兴。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某村“积分制”管理实践：用小积分撬动乡村大治理，好婆媳、垃圾分类都能换积分超市商品。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长效机制探讨：如果财政补贴的物质奖励取消，积分制还能长效运转吗？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第15课：全球化背景下的公共管理变革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全球治理机制的构建，跨国界公共问题（如气候变化、传染病）对传统民族国家管理权限的挑战。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跨国公共卫生危机应对体系：以COVID-19为例，看国际组织协调与各国出入境管理政策的博弈。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宏观视野：主权国家在面对全球危机时，应如何有条件地让渡部分管理权以换取合作？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第16课：数字化与人工智能时代的治理创新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算法治理、大数据决策的应用前景，以及随之而来的算法偏见、数字鸿沟与科技伦理挑战。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“算法官僚主义”：外卖骑手劳动权益保护与平台推荐算法的监管盲区，政府如何穿透算法？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前沿辩论：AI系统如果在公共决策（如福利发放审核）中出错，谁来承担法律责任？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imHei"/>
              </a:defRPr>
            </a:pPr>
            <a:r>
              <a:t>《公共管理学实务》（第四版）主编：霍瑞红 —— 理论与案例结合教学体系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imHei"/>
              </a:defRPr>
            </a:pPr>
            <a:r>
              <a:t>第17课：课程总复习与实务大演练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3257"/>
                </a:solidFill>
                <a:latin typeface="SimHei"/>
              </a:defRPr>
            </a:pPr>
            <a:r>
              <a:t>📚 理论精要：</a:t>
            </a:r>
          </a:p>
          <a:p>
            <a:pPr>
              <a:defRPr sz="2200">
                <a:solidFill>
                  <a:srgbClr val="323232"/>
                </a:solidFill>
                <a:latin typeface="SimHei"/>
              </a:defRPr>
            </a:pPr>
            <a:r>
              <a:t>理论联系实际，知行合一。公共管理不是象牙塔里的学问，而是一门需要高度行动力与同理心的实践学科。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0000"/>
                </a:solidFill>
                <a:latin typeface="SimHei"/>
              </a:defRPr>
            </a:pPr>
            <a:r>
              <a:t>🔥 实务案例实战：</a:t>
            </a:r>
          </a:p>
          <a:p>
            <a:pPr>
              <a:defRPr sz="2600" b="1">
                <a:solidFill>
                  <a:srgbClr val="323232"/>
                </a:solidFill>
                <a:latin typeface="SimHei"/>
              </a:defRPr>
            </a:pPr>
            <a:r>
              <a:t>全班实战演练——大型模拟听证会：关于XX市是否应当在核心城区全面实施“拥堵费”的听证与决策。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KaiTi"/>
              </a:defRPr>
            </a:pPr>
            <a:r>
              <a:t>💡 结课总结：作为未来的公共管理者，这17堂课赋予了你哪些最核心的实务破局能力？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